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5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270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Algorithms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E94560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566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Propagation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5661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6D6A0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566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5661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D166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566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4CC9F0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51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42519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77F00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4251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7B2FBE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4251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Shift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| Unsupervised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E94560">
              <a:alpha val="10000"/>
            </a:srgbClr>
          </a:solidFill>
          <a:ln w="12700">
            <a:solidFill>
              <a:srgbClr val="E9456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Affinity Propagation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the data decide its own cluster centers — no need to pre-set K!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164592" cy="164592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71600"/>
            <a:ext cx="164592" cy="164592"/>
          </a:xfrm>
          <a:prstGeom prst="ellipse">
            <a:avLst/>
          </a:prstGeom>
          <a:solidFill>
            <a:srgbClr val="E94560">
              <a:alpha val="4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645920"/>
            <a:ext cx="164592" cy="164592"/>
          </a:xfrm>
          <a:prstGeom prst="ellipse">
            <a:avLst/>
          </a:prstGeom>
          <a:solidFill>
            <a:srgbClr val="E94560">
              <a:alpha val="4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920240"/>
            <a:ext cx="164592" cy="164592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737360"/>
            <a:ext cx="164592" cy="164592"/>
          </a:xfrm>
          <a:prstGeom prst="ellipse">
            <a:avLst/>
          </a:prstGeom>
          <a:solidFill>
            <a:srgbClr val="E94560">
              <a:alpha val="4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164592" cy="164592"/>
          </a:xfrm>
          <a:prstGeom prst="ellipse">
            <a:avLst/>
          </a:prstGeom>
          <a:solidFill>
            <a:srgbClr val="E94560">
              <a:alpha val="4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651760"/>
            <a:ext cx="164592" cy="164592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834640"/>
            <a:ext cx="164592" cy="164592"/>
          </a:xfrm>
          <a:prstGeom prst="ellipse">
            <a:avLst/>
          </a:prstGeom>
          <a:solidFill>
            <a:srgbClr val="E94560">
              <a:alpha val="4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468880"/>
            <a:ext cx="164592" cy="164592"/>
          </a:xfrm>
          <a:prstGeom prst="ellipse">
            <a:avLst/>
          </a:prstGeom>
          <a:solidFill>
            <a:srgbClr val="E94560">
              <a:alpha val="4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108960"/>
            <a:ext cx="164592" cy="164592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Affinity Propagation — How It Works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2234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24128"/>
            <a:ext cx="347472" cy="347472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987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24358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send 'responsibility' and 'availability' messages to each other to figure out who should be the cluster center (exemplar).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2234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12848"/>
            <a:ext cx="347472" cy="347472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176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432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that collect the most positive messages become exemplars — basically the representatives of each cluster.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2234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01568"/>
            <a:ext cx="347472" cy="347472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Updates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6210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messaging keeps going back and forth until the assignments stabilize and we get our final clusters.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22234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896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 to Know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47488" y="1371600"/>
            <a:ext cx="118872" cy="11887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5230368" y="1298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Damping factor (0.5–1.0): controls how fast messages update — too fast = unstable!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47488" y="1938528"/>
            <a:ext cx="118872" cy="11887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1865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Preference: sets how likely each point is to become an exemplar. Lower = fewer clusters.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47488" y="2505456"/>
            <a:ext cx="118872" cy="11887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2432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iterations: how long it keeps passing messages before stopping.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47488" y="3072384"/>
            <a:ext cx="118872" cy="11887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2999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iter: how many stable rounds before we call it done.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47488" y="3639312"/>
            <a:ext cx="118872" cy="11887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matrix: usually Euclidean distance, but can be customized.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Affinity Propagation — Strengths, Limits &amp; Use Cases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22234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" y="135331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2893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specify number of clusters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783080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non-spherical cluster shapes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2212848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actual data points as exemplars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22234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" y="351129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large datasets (O(n²) memory)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877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parameter is tricky to tune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868680"/>
            <a:ext cx="3977640" cy="4023360"/>
          </a:xfrm>
          <a:prstGeom prst="roundRect">
            <a:avLst>
              <a:gd name="adj" fmla="val 3448"/>
            </a:avLst>
          </a:prstGeom>
          <a:solidFill>
            <a:srgbClr val="22234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941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Real-World Use Cases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141732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A2E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1453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Image Segmentation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representative patches in an image automatically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216712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A2E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47488" y="2203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Bioinformatics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47488" y="2441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clustering without pre-set group count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56048" y="291693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A2E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2953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Document Clustering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47488" y="3191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similar articles or papers together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56048" y="366674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A2E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Speaker Identification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47488" y="3941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unique speakers in audio recordings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6D6A0">
              <a:alpha val="10000"/>
            </a:srgbClr>
          </a:solidFill>
          <a:ln w="12700">
            <a:solidFill>
              <a:srgbClr val="06D6A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Clustering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math tricks from graph theory to find clusters that K-Means totally misses!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164592" cy="164592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71600"/>
            <a:ext cx="164592" cy="164592"/>
          </a:xfrm>
          <a:prstGeom prst="ellipse">
            <a:avLst/>
          </a:prstGeom>
          <a:solidFill>
            <a:srgbClr val="06D6A0">
              <a:alpha val="4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645920"/>
            <a:ext cx="164592" cy="164592"/>
          </a:xfrm>
          <a:prstGeom prst="ellipse">
            <a:avLst/>
          </a:prstGeom>
          <a:solidFill>
            <a:srgbClr val="06D6A0">
              <a:alpha val="4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920240"/>
            <a:ext cx="164592" cy="164592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737360"/>
            <a:ext cx="164592" cy="164592"/>
          </a:xfrm>
          <a:prstGeom prst="ellipse">
            <a:avLst/>
          </a:prstGeom>
          <a:solidFill>
            <a:srgbClr val="06D6A0">
              <a:alpha val="4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164592" cy="164592"/>
          </a:xfrm>
          <a:prstGeom prst="ellipse">
            <a:avLst/>
          </a:prstGeom>
          <a:solidFill>
            <a:srgbClr val="06D6A0">
              <a:alpha val="4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651760"/>
            <a:ext cx="164592" cy="164592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834640"/>
            <a:ext cx="164592" cy="164592"/>
          </a:xfrm>
          <a:prstGeom prst="ellipse">
            <a:avLst/>
          </a:prstGeom>
          <a:solidFill>
            <a:srgbClr val="06D6A0">
              <a:alpha val="4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468880"/>
            <a:ext cx="164592" cy="164592"/>
          </a:xfrm>
          <a:prstGeom prst="ellipse">
            <a:avLst/>
          </a:prstGeom>
          <a:solidFill>
            <a:srgbClr val="06D6A0">
              <a:alpha val="4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108960"/>
            <a:ext cx="164592" cy="164592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Clustering — How It Works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A2F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24128"/>
            <a:ext cx="347472" cy="347472"/>
          </a:xfrm>
          <a:prstGeom prst="ellipse">
            <a:avLst/>
          </a:prstGeom>
          <a:solidFill>
            <a:srgbClr val="06D6A0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987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24358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treat data points as nodes in a graph. Connect nearby points with edges weighted by similarity (e.g. Gaussian kernel).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A2F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12848"/>
            <a:ext cx="347472" cy="347472"/>
          </a:xfrm>
          <a:prstGeom prst="ellipse">
            <a:avLst/>
          </a:prstGeom>
          <a:solidFill>
            <a:srgbClr val="06D6A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176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Matrix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432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graph Laplacian — a special matrix that captures how the data is connected and structured.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A2F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01568"/>
            <a:ext cx="347472" cy="347472"/>
          </a:xfrm>
          <a:prstGeom prst="ellipse">
            <a:avLst/>
          </a:prstGeom>
          <a:solidFill>
            <a:srgbClr val="06D6A0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Eigendecomposition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6210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top-k eigenvectors of the Laplacian. These create a new, lower-dimensional space where clusters are easier to spot!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1A2F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896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So Cool?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47488" y="1371600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5230368" y="1298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find non-convex (weird shaped) clusters that K-Means fails 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47488" y="1938528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1865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great when clusters are like 'rings inside rings' or spirals.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47488" y="2505456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2432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projecting to eigenvector space, runs standard K-Means there.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47488" y="3072384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2999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can be tuned with sigma (γ) in the RBF/Gaussian kernel.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47488" y="3639312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clusters K still needs to be set — that's the main downside!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Clustering — Strengths, Limits &amp; Use Cases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1A2F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" y="135331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2893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complex non-convex cluster shapes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783080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on graph/network structured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2212848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built into process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F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" y="351129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pre-specify number of clusters 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877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Eigendecomposition is expensive (slow on big data)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868680"/>
            <a:ext cx="3977640" cy="4023360"/>
          </a:xfrm>
          <a:prstGeom prst="roundRect">
            <a:avLst>
              <a:gd name="adj" fmla="val 3448"/>
            </a:avLst>
          </a:prstGeom>
          <a:solidFill>
            <a:srgbClr val="1A2F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941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Real-World Use Cases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141732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F2027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1453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Community Detection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social groups in networks like Twitter or LinkedIn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216712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F2027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47488" y="2203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Brain Imaging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47488" y="2441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brain regions by functional connectivity patterns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56048" y="291693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F2027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2953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 Segmentation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47488" y="3191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objects in images using pixel similarity graphs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56048" y="366674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F2027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Music Recommendation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47488" y="3941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user clusters based on listening patterns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D166">
              <a:alpha val="12000"/>
            </a:srgbClr>
          </a:solidFill>
          <a:ln w="12700">
            <a:solidFill>
              <a:srgbClr val="FFD16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FFD16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Spatial Clustering — finds clusters AND spots outliers automatically!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164592" cy="164592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71600"/>
            <a:ext cx="164592" cy="164592"/>
          </a:xfrm>
          <a:prstGeom prst="ellipse">
            <a:avLst/>
          </a:prstGeom>
          <a:solidFill>
            <a:srgbClr val="FFD166">
              <a:alpha val="4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645920"/>
            <a:ext cx="164592" cy="164592"/>
          </a:xfrm>
          <a:prstGeom prst="ellipse">
            <a:avLst/>
          </a:prstGeom>
          <a:solidFill>
            <a:srgbClr val="FFD166">
              <a:alpha val="4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920240"/>
            <a:ext cx="164592" cy="164592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737360"/>
            <a:ext cx="164592" cy="164592"/>
          </a:xfrm>
          <a:prstGeom prst="ellipse">
            <a:avLst/>
          </a:prstGeom>
          <a:solidFill>
            <a:srgbClr val="FFD166">
              <a:alpha val="4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164592" cy="164592"/>
          </a:xfrm>
          <a:prstGeom prst="ellipse">
            <a:avLst/>
          </a:prstGeom>
          <a:solidFill>
            <a:srgbClr val="FFD166">
              <a:alpha val="4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651760"/>
            <a:ext cx="164592" cy="164592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834640"/>
            <a:ext cx="164592" cy="164592"/>
          </a:xfrm>
          <a:prstGeom prst="ellipse">
            <a:avLst/>
          </a:prstGeom>
          <a:solidFill>
            <a:srgbClr val="FFD166">
              <a:alpha val="4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468880"/>
            <a:ext cx="164592" cy="164592"/>
          </a:xfrm>
          <a:prstGeom prst="ellipse">
            <a:avLst/>
          </a:prstGeom>
          <a:solidFill>
            <a:srgbClr val="FFD166">
              <a:alpha val="4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108960"/>
            <a:ext cx="164592" cy="164592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— How It Works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B21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24128"/>
            <a:ext cx="347472" cy="347472"/>
          </a:xfrm>
          <a:prstGeom prst="ellipse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987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Neighborhood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24358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point, draw a circle of radius ε. If enough neighbors (≥ MinPts) fall inside, it's a 'core point'.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B21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12848"/>
            <a:ext cx="347472" cy="347472"/>
          </a:xfrm>
          <a:prstGeom prst="ellipse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176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Density-Reachable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432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points expand clusters by connecting to other core points within ε. Border points join but don't expand.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B21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01568"/>
            <a:ext cx="347472" cy="347472"/>
          </a:xfrm>
          <a:prstGeom prst="ellipse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6210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with no core point nearby are labeled as noise/outliers. DBSCAN is literally the only classic algo that does this automatically!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2B21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896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Types of Points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47488" y="1371600"/>
            <a:ext cx="118872" cy="11887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5230368" y="1298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Point: has ≥ MinPts neighbors within radius ε. Cluster 'seeds' come from these.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47488" y="1938528"/>
            <a:ext cx="118872" cy="11887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1865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Point: within ε of a core point but doesn't have enough neighbors itself.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47488" y="2505456"/>
            <a:ext cx="118872" cy="11887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2432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Point: not within ε of any core point. Gets label = -1 in sklearn.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47488" y="3072384"/>
            <a:ext cx="118872" cy="11887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2999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(epsilon): the neighborhood radius — too small = many tiny clusters, too big = merges everything.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47488" y="3639312"/>
            <a:ext cx="118872" cy="11887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MinPts tip: a good rule of thumb is MinPts ≥ dimensions + 1.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— Strengths, Limits &amp; Use Cases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2B21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" y="135331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2893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pre-specify number of clusters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783080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identifies outliers/noise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2212848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arbitrary shaped clusters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2B21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" y="351129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varying-density clusters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877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and MinPts are sensitive to choose correctly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868680"/>
            <a:ext cx="3977640" cy="4023360"/>
          </a:xfrm>
          <a:prstGeom prst="roundRect">
            <a:avLst>
              <a:gd name="adj" fmla="val 3448"/>
            </a:avLst>
          </a:prstGeom>
          <a:solidFill>
            <a:srgbClr val="2B213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941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Real-World Use Cases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141732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420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1453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Geospatial Analysis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hotspots and anomalies in GPS/location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216712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420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47488" y="2203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Fraud Detection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47488" y="2441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anomalous transactions as noise points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56048" y="291693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420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2953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🌦️  Climate Science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47488" y="3191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weather patterns by regional density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56048" y="366674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420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Robotics / LiDAR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47488" y="3941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from 3D point cloud sensor data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CC9F0">
              <a:alpha val="12000"/>
            </a:srgbClr>
          </a:solidFill>
          <a:ln w="12700">
            <a:solidFill>
              <a:srgbClr val="4CC9F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4CC9F0">
              <a:alpha val="10000"/>
            </a:srgbClr>
          </a:solidFill>
          <a:ln w="12700">
            <a:solidFill>
              <a:srgbClr val="4CC9F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4CC9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Points To Identify Clustering Structure — like DBSCAN but handles varying densities!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164592" cy="164592"/>
          </a:xfrm>
          <a:prstGeom prst="ellipse">
            <a:avLst/>
          </a:prstGeom>
          <a:solidFill>
            <a:srgbClr val="4CC9F0">
              <a:alpha val="80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71600"/>
            <a:ext cx="164592" cy="164592"/>
          </a:xfrm>
          <a:prstGeom prst="ellipse">
            <a:avLst/>
          </a:prstGeom>
          <a:solidFill>
            <a:srgbClr val="4CC9F0">
              <a:alpha val="4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645920"/>
            <a:ext cx="164592" cy="164592"/>
          </a:xfrm>
          <a:prstGeom prst="ellipse">
            <a:avLst/>
          </a:prstGeom>
          <a:solidFill>
            <a:srgbClr val="4CC9F0">
              <a:alpha val="4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920240"/>
            <a:ext cx="164592" cy="164592"/>
          </a:xfrm>
          <a:prstGeom prst="ellipse">
            <a:avLst/>
          </a:prstGeom>
          <a:solidFill>
            <a:srgbClr val="4CC9F0">
              <a:alpha val="80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737360"/>
            <a:ext cx="164592" cy="164592"/>
          </a:xfrm>
          <a:prstGeom prst="ellipse">
            <a:avLst/>
          </a:prstGeom>
          <a:solidFill>
            <a:srgbClr val="4CC9F0">
              <a:alpha val="4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164592" cy="164592"/>
          </a:xfrm>
          <a:prstGeom prst="ellipse">
            <a:avLst/>
          </a:prstGeom>
          <a:solidFill>
            <a:srgbClr val="4CC9F0">
              <a:alpha val="4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651760"/>
            <a:ext cx="164592" cy="164592"/>
          </a:xfrm>
          <a:prstGeom prst="ellipse">
            <a:avLst/>
          </a:prstGeom>
          <a:solidFill>
            <a:srgbClr val="4CC9F0">
              <a:alpha val="80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834640"/>
            <a:ext cx="164592" cy="164592"/>
          </a:xfrm>
          <a:prstGeom prst="ellipse">
            <a:avLst/>
          </a:prstGeom>
          <a:solidFill>
            <a:srgbClr val="4CC9F0">
              <a:alpha val="4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468880"/>
            <a:ext cx="164592" cy="164592"/>
          </a:xfrm>
          <a:prstGeom prst="ellipse">
            <a:avLst/>
          </a:prstGeom>
          <a:solidFill>
            <a:srgbClr val="4CC9F0">
              <a:alpha val="4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108960"/>
            <a:ext cx="164592" cy="164592"/>
          </a:xfrm>
          <a:prstGeom prst="ellipse">
            <a:avLst/>
          </a:prstGeom>
          <a:solidFill>
            <a:srgbClr val="4CC9F0">
              <a:alpha val="80000"/>
            </a:srgbClr>
          </a:solidFill>
          <a:ln w="12700">
            <a:solidFill>
              <a:srgbClr val="4CC9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OPTICS — How It Works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62232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24128"/>
            <a:ext cx="347472" cy="347472"/>
          </a:xfrm>
          <a:prstGeom prst="ellipse">
            <a:avLst/>
          </a:prstGeom>
          <a:solidFill>
            <a:srgbClr val="4CC9F0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987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Plot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24358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 produces a special reachability plot — a 1D ordering of points where valleys = dense clusters and peaks = cluster boundaries or noise.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62232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12848"/>
            <a:ext cx="347472" cy="347472"/>
          </a:xfrm>
          <a:prstGeom prst="ellipse">
            <a:avLst/>
          </a:prstGeom>
          <a:solidFill>
            <a:srgbClr val="4CC9F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176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Distance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432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distance needed for a point to be a core point. Points with small core distances are in dense regions.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62232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01568"/>
            <a:ext cx="347472" cy="347472"/>
          </a:xfrm>
          <a:prstGeom prst="ellipse">
            <a:avLst/>
          </a:prstGeom>
          <a:solidFill>
            <a:srgbClr val="4CC9F0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Distance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6210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max(core_distance(p), dist(p,q)) — used to order points and build the reachability plot. Lower = denser!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162232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896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 vs. DBSCAN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47488" y="1371600"/>
            <a:ext cx="118872" cy="118872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2" name="Text 20"/>
          <p:cNvSpPr/>
          <p:nvPr/>
        </p:nvSpPr>
        <p:spPr>
          <a:xfrm>
            <a:off x="5230368" y="1298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needs a fixed ε — OPTICS doesn't! It works across all densities.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47488" y="1938528"/>
            <a:ext cx="118872" cy="118872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1865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 creates an ordering, then you can extract clusters at different density levels.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47488" y="2505456"/>
            <a:ext cx="118872" cy="118872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2432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 parameter: controls how steep a valley must be to count as a cluster.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47488" y="3072384"/>
            <a:ext cx="118872" cy="118872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2999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reachability plot is super useful for visually understanding your data structure.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47488" y="3639312"/>
            <a:ext cx="118872" cy="118872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sklearn's OPTICS uses min_samples just like DBSCAN's MinPts parameter.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OPTICS — Strengths, Limits &amp; Use Cases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162232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" y="135331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2893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clusters of varying density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783080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need ε to be precisely 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2212848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plot gives visual insight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62232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" y="351129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DBSCAN on large datasets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877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(the ordering) is harder to interpret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868680"/>
            <a:ext cx="3977640" cy="4023360"/>
          </a:xfrm>
          <a:prstGeom prst="roundRect">
            <a:avLst>
              <a:gd name="adj" fmla="val 3448"/>
            </a:avLst>
          </a:prstGeom>
          <a:solidFill>
            <a:srgbClr val="162232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941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Real-World Use Cases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141732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1B2A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1453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Scientific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multi-density astronomical or particle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216712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1B2A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47488" y="2203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Urban Planning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47488" y="2441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city zones with varying population density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56048" y="291693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1B2A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2953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Drug Discovery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47488" y="3191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molecular structures of different concentration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56048" y="366674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1B2A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Sensor Networks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47488" y="3941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IoT sensor data with uneven coverage areas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77F00">
              <a:alpha val="12000"/>
            </a:srgbClr>
          </a:solidFill>
          <a:ln w="12700">
            <a:solidFill>
              <a:srgbClr val="F77F0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77F00">
              <a:alpha val="10000"/>
            </a:srgbClr>
          </a:solidFill>
          <a:ln w="12700">
            <a:solidFill>
              <a:srgbClr val="F77F0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77F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BIRCH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Iterative Reducing &amp; Clustering using Hierarchies — the go-to for huge datasets!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164592" cy="164592"/>
          </a:xfrm>
          <a:prstGeom prst="ellipse">
            <a:avLst/>
          </a:prstGeom>
          <a:solidFill>
            <a:srgbClr val="F77F00">
              <a:alpha val="8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71600"/>
            <a:ext cx="164592" cy="164592"/>
          </a:xfrm>
          <a:prstGeom prst="ellipse">
            <a:avLst/>
          </a:prstGeom>
          <a:solidFill>
            <a:srgbClr val="F77F00">
              <a:alpha val="45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645920"/>
            <a:ext cx="164592" cy="164592"/>
          </a:xfrm>
          <a:prstGeom prst="ellipse">
            <a:avLst/>
          </a:prstGeom>
          <a:solidFill>
            <a:srgbClr val="F77F00">
              <a:alpha val="45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920240"/>
            <a:ext cx="164592" cy="164592"/>
          </a:xfrm>
          <a:prstGeom prst="ellipse">
            <a:avLst/>
          </a:prstGeom>
          <a:solidFill>
            <a:srgbClr val="F77F00">
              <a:alpha val="8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737360"/>
            <a:ext cx="164592" cy="164592"/>
          </a:xfrm>
          <a:prstGeom prst="ellipse">
            <a:avLst/>
          </a:prstGeom>
          <a:solidFill>
            <a:srgbClr val="F77F00">
              <a:alpha val="45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164592" cy="164592"/>
          </a:xfrm>
          <a:prstGeom prst="ellipse">
            <a:avLst/>
          </a:prstGeom>
          <a:solidFill>
            <a:srgbClr val="F77F00">
              <a:alpha val="45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651760"/>
            <a:ext cx="164592" cy="164592"/>
          </a:xfrm>
          <a:prstGeom prst="ellipse">
            <a:avLst/>
          </a:prstGeom>
          <a:solidFill>
            <a:srgbClr val="F77F00">
              <a:alpha val="8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834640"/>
            <a:ext cx="164592" cy="164592"/>
          </a:xfrm>
          <a:prstGeom prst="ellipse">
            <a:avLst/>
          </a:prstGeom>
          <a:solidFill>
            <a:srgbClr val="F77F00">
              <a:alpha val="45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468880"/>
            <a:ext cx="164592" cy="164592"/>
          </a:xfrm>
          <a:prstGeom prst="ellipse">
            <a:avLst/>
          </a:prstGeom>
          <a:solidFill>
            <a:srgbClr val="F77F00">
              <a:alpha val="45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108960"/>
            <a:ext cx="164592" cy="164592"/>
          </a:xfrm>
          <a:prstGeom prst="ellipse">
            <a:avLst/>
          </a:prstGeom>
          <a:solidFill>
            <a:srgbClr val="F77F00">
              <a:alpha val="80000"/>
            </a:srgbClr>
          </a:solidFill>
          <a:ln w="12700">
            <a:solidFill>
              <a:srgbClr val="F77F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BIRCH — How It Works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A354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24128"/>
            <a:ext cx="347472" cy="347472"/>
          </a:xfrm>
          <a:prstGeom prst="ellipse">
            <a:avLst/>
          </a:prstGeom>
          <a:solidFill>
            <a:srgbClr val="F77F00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987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Tree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24358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Clustering Feature (CF) Tree in memory — a compact summary of the data. Each node stores (N, LS, SS): count, linear sum, squared sum.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A354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12848"/>
            <a:ext cx="347472" cy="347472"/>
          </a:xfrm>
          <a:prstGeom prst="ellipse">
            <a:avLst/>
          </a:prstGeom>
          <a:solidFill>
            <a:srgbClr val="F77F0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176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Subclusters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432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compressed into small subclusters based on a radius threshold T. Points within T of a subcluster centroid get merged into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A354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01568"/>
            <a:ext cx="347472" cy="347472"/>
          </a:xfrm>
          <a:prstGeom prst="ellipse">
            <a:avLst/>
          </a:prstGeom>
          <a:solidFill>
            <a:srgbClr val="F77F00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6210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 can cluster data in a single scan! It's designed for big data where other algorithms would be too slow or run out of memory.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2A354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896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 Parameters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47488" y="1371600"/>
            <a:ext cx="118872" cy="118872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22" name="Text 20"/>
          <p:cNvSpPr/>
          <p:nvPr/>
        </p:nvSpPr>
        <p:spPr>
          <a:xfrm>
            <a:off x="5230368" y="1298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(T): max radius of a subcluster — smaller = more subclusters = more detail.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47488" y="1938528"/>
            <a:ext cx="118872" cy="118872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1865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branching_factor: max children per CF tree node. Like a B-tree in databases!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47488" y="2505456"/>
            <a:ext cx="118872" cy="118872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2432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n_clusters: optional final step to merge subclusters into K groups using K-Means.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47488" y="3072384"/>
            <a:ext cx="118872" cy="118872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2999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 tree can be updated incrementally — great for streaming/online learning.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47488" y="3639312"/>
            <a:ext cx="118872" cy="118872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efficient: you don't store all the raw data, just the CF summaries.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BIRCH — Strengths, Limits &amp; Use Cases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2A354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" y="135331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2893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— O(n) time complexity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783080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 for large-scale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2212848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incremental/online updates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2A354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" y="351129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non-spherical clusters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877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 is hard to set without domain knowledge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868680"/>
            <a:ext cx="3977640" cy="4023360"/>
          </a:xfrm>
          <a:prstGeom prst="roundRect">
            <a:avLst>
              <a:gd name="adj" fmla="val 3448"/>
            </a:avLst>
          </a:prstGeom>
          <a:solidFill>
            <a:srgbClr val="2A3545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941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Real-World Use Cases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141732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B2838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1453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E-Commerce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millions of customers by purchase behaviour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216712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B2838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47488" y="2203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Log Analysis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47488" y="2441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huge server log files in a single scan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56048" y="291693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B2838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2953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Telecom Data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47488" y="3191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subscriber behaviour from billion-row datasets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56048" y="366674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B2838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Banking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47488" y="3941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for personalized financial offers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7B2FBE">
              <a:alpha val="10000"/>
            </a:srgbClr>
          </a:solidFill>
          <a:ln w="12700">
            <a:solidFill>
              <a:srgbClr val="7B2FB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7B2FB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Shift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uphill toward density peaks — a mode-seeking algorithm that finds cluster centers naturally!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164592" cy="164592"/>
          </a:xfrm>
          <a:prstGeom prst="ellipse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71600"/>
            <a:ext cx="164592" cy="164592"/>
          </a:xfrm>
          <a:prstGeom prst="ellipse">
            <a:avLst/>
          </a:prstGeom>
          <a:solidFill>
            <a:srgbClr val="7B2FBE">
              <a:alpha val="4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645920"/>
            <a:ext cx="164592" cy="164592"/>
          </a:xfrm>
          <a:prstGeom prst="ellipse">
            <a:avLst/>
          </a:prstGeom>
          <a:solidFill>
            <a:srgbClr val="7B2FBE">
              <a:alpha val="4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920240"/>
            <a:ext cx="164592" cy="164592"/>
          </a:xfrm>
          <a:prstGeom prst="ellipse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737360"/>
            <a:ext cx="164592" cy="164592"/>
          </a:xfrm>
          <a:prstGeom prst="ellipse">
            <a:avLst/>
          </a:prstGeom>
          <a:solidFill>
            <a:srgbClr val="7B2FBE">
              <a:alpha val="4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164592" cy="164592"/>
          </a:xfrm>
          <a:prstGeom prst="ellipse">
            <a:avLst/>
          </a:prstGeom>
          <a:solidFill>
            <a:srgbClr val="7B2FBE">
              <a:alpha val="4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651760"/>
            <a:ext cx="164592" cy="164592"/>
          </a:xfrm>
          <a:prstGeom prst="ellipse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834640"/>
            <a:ext cx="164592" cy="164592"/>
          </a:xfrm>
          <a:prstGeom prst="ellipse">
            <a:avLst/>
          </a:prstGeom>
          <a:solidFill>
            <a:srgbClr val="7B2FBE">
              <a:alpha val="4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468880"/>
            <a:ext cx="164592" cy="164592"/>
          </a:xfrm>
          <a:prstGeom prst="ellipse">
            <a:avLst/>
          </a:prstGeom>
          <a:solidFill>
            <a:srgbClr val="7B2FBE">
              <a:alpha val="4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108960"/>
            <a:ext cx="164592" cy="164592"/>
          </a:xfrm>
          <a:prstGeom prst="ellipse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Shift — How It Works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A203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24128"/>
            <a:ext cx="347472" cy="347472"/>
          </a:xfrm>
          <a:prstGeom prst="ellipse">
            <a:avLst/>
          </a:prstGeom>
          <a:solidFill>
            <a:srgbClr val="7B2FBE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987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24358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data as a landscape of hills and valleys. Mean Shift estimates a probability density function (using KDE) over the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A203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12848"/>
            <a:ext cx="347472" cy="347472"/>
          </a:xfrm>
          <a:prstGeom prst="ellipse">
            <a:avLst/>
          </a:prstGeom>
          <a:solidFill>
            <a:srgbClr val="7B2FBE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176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Seeking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432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starts rolling uphill (toward the mean of nearby points) step by step, until it reaches a peak — a density mode.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2A203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01568"/>
            <a:ext cx="347472" cy="347472"/>
          </a:xfrm>
          <a:prstGeom prst="ellipse">
            <a:avLst/>
          </a:prstGeom>
          <a:solidFill>
            <a:srgbClr val="7B2FBE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6210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that converge to the same peak belong to the same cluster. Number of clusters = number of peaks found automatically!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2A203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896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47488" y="1371600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2" name="Text 20"/>
          <p:cNvSpPr/>
          <p:nvPr/>
        </p:nvSpPr>
        <p:spPr>
          <a:xfrm>
            <a:off x="5230368" y="1298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(h): controls the size of the window for finding neighbors. This is the main parameter to set — very sensitive!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47488" y="1938528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1865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shift vector always points toward the direction of increasing density.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47488" y="2505456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2432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Kernel Density Estimation (KDE) — Gaussian kernel is most common.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47488" y="3072384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2999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 needed: number of clusters is determined by how many peaks exist.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47488" y="3639312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tip: use estimate_bandwidth() to auto-select a decent bandwidth value.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Shift — Strengths, Limits &amp; Use Cases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412480" y="228600"/>
            <a:ext cx="256032" cy="25603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2A203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" y="135331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2893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clusters found automatically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783080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— they end up far from peaks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2212848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arbitrarily shaped clusters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2A203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" y="3511296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selection is critical and tricky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941064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877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slow on large datasets O(n² per iter)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868680"/>
            <a:ext cx="3977640" cy="4023360"/>
          </a:xfrm>
          <a:prstGeom prst="roundRect">
            <a:avLst>
              <a:gd name="adj" fmla="val 3448"/>
            </a:avLst>
          </a:prstGeom>
          <a:solidFill>
            <a:srgbClr val="2A2030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941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Real-World Use Cases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141732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A1A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1453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Image Segmentation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images by colour — used in OpenCV pipelines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216712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A1A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47488" y="2203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Object Tracking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47488" y="2441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tracking of moving objects across frames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56048" y="291693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A1A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2953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Medical Imaging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47488" y="3191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tissue regions in MRI/CT scan images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56048" y="366674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A1A1A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Computer Vision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47488" y="3941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clustering in visual recognition systems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1643</Words>
  <Application>Microsoft Office PowerPoint</Application>
  <PresentationFormat>On-screen Show (16:9)</PresentationFormat>
  <Paragraphs>243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Algorithms</dc:title>
  <dc:subject>PptxGenJS Presentation</dc:subject>
  <dc:creator>Ashok</dc:creator>
  <cp:lastModifiedBy>Ashok Kumar</cp:lastModifiedBy>
  <cp:revision>2</cp:revision>
  <dcterms:created xsi:type="dcterms:W3CDTF">2026-06-29T14:52:16Z</dcterms:created>
  <dcterms:modified xsi:type="dcterms:W3CDTF">2026-06-29T17:55:52Z</dcterms:modified>
</cp:coreProperties>
</file>